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Raleway"/>
      <p:regular r:id="rId17"/>
    </p:embeddedFont>
    <p:embeddedFont>
      <p:font typeface="Raleway Bold"/>
      <p:regular r:id="rId18"/>
    </p:embeddedFont>
    <p:embeddedFont>
      <p:font typeface="Roboto"/>
      <p:regular r:id="rId19"/>
    </p:embeddedFont>
    <p:embeddedFont>
      <p:font typeface="Roboto Bold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slideLayout" Target="../slideLayouts/slideLayout9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slideLayout" Target="../slideLayouts/slideLayout10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74155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 Lugar – Smart Parking Management for Hybrid Workforces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311571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smart parking pilot proposal designed to optimize capacity, reduce associate stress, and align with the realities of hybrid work.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1871" y="361801"/>
            <a:ext cx="3613696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 Statement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41871" y="924967"/>
            <a:ext cx="4831259" cy="927571"/>
          </a:xfrm>
          <a:prstGeom prst="roundRect">
            <a:avLst>
              <a:gd name="adj" fmla="val 7394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27583" y="924967"/>
            <a:ext cx="57150" cy="927571"/>
          </a:xfrm>
          <a:prstGeom prst="roundRect">
            <a:avLst>
              <a:gd name="adj" fmla="val 92791"/>
            </a:avLst>
          </a:prstGeom>
          <a:solidFill>
            <a:srgbClr val="1B1B27"/>
          </a:solidFill>
          <a:ln/>
        </p:spPr>
      </p:sp>
      <p:sp>
        <p:nvSpPr>
          <p:cNvPr id="6" name="Text 3"/>
          <p:cNvSpPr/>
          <p:nvPr/>
        </p:nvSpPr>
        <p:spPr>
          <a:xfrm>
            <a:off x="625227" y="1065461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Insufficient Capacity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5227" y="1330151"/>
            <a:ext cx="4507409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Parking supply falls significantly short of employee demand, creating daily friction.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41871" y="1964978"/>
            <a:ext cx="4831259" cy="736625"/>
          </a:xfrm>
          <a:prstGeom prst="roundRect">
            <a:avLst>
              <a:gd name="adj" fmla="val 9310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7583" y="1964978"/>
            <a:ext cx="57150" cy="736625"/>
          </a:xfrm>
          <a:prstGeom prst="roundRect">
            <a:avLst>
              <a:gd name="adj" fmla="val 92791"/>
            </a:avLst>
          </a:prstGeom>
          <a:solidFill>
            <a:srgbClr val="1B1B27"/>
          </a:solidFill>
          <a:ln/>
        </p:spPr>
      </p:sp>
      <p:sp>
        <p:nvSpPr>
          <p:cNvPr id="10" name="Text 7"/>
          <p:cNvSpPr/>
          <p:nvPr/>
        </p:nvSpPr>
        <p:spPr>
          <a:xfrm>
            <a:off x="625227" y="2105471"/>
            <a:ext cx="300513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Underutilization Through Fixed Allocation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5227" y="2370162"/>
            <a:ext cx="4507409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Spaces assigned to individuals or projects sit empty while others circle the lot.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41871" y="2814042"/>
            <a:ext cx="4831259" cy="927571"/>
          </a:xfrm>
          <a:prstGeom prst="roundRect">
            <a:avLst>
              <a:gd name="adj" fmla="val 7394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7583" y="2814042"/>
            <a:ext cx="57150" cy="927571"/>
          </a:xfrm>
          <a:prstGeom prst="roundRect">
            <a:avLst>
              <a:gd name="adj" fmla="val 92791"/>
            </a:avLst>
          </a:prstGeom>
          <a:solidFill>
            <a:srgbClr val="1B1B27"/>
          </a:solidFill>
          <a:ln/>
        </p:spPr>
      </p:sp>
      <p:sp>
        <p:nvSpPr>
          <p:cNvPr id="14" name="Text 11"/>
          <p:cNvSpPr/>
          <p:nvPr/>
        </p:nvSpPr>
        <p:spPr>
          <a:xfrm>
            <a:off x="625227" y="2954536"/>
            <a:ext cx="1875904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Peak Congestion Window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5227" y="3219227"/>
            <a:ext cx="4507409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Bottlenecks concentrate between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8:30–10:00 AM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disrupting the start of every workday.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41871" y="3854053"/>
            <a:ext cx="4831259" cy="927571"/>
          </a:xfrm>
          <a:prstGeom prst="roundRect">
            <a:avLst>
              <a:gd name="adj" fmla="val 7394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7583" y="3854053"/>
            <a:ext cx="57150" cy="927571"/>
          </a:xfrm>
          <a:prstGeom prst="roundRect">
            <a:avLst>
              <a:gd name="adj" fmla="val 92791"/>
            </a:avLst>
          </a:prstGeom>
          <a:solidFill>
            <a:srgbClr val="1B1B27"/>
          </a:solidFill>
          <a:ln/>
        </p:spPr>
      </p:sp>
      <p:sp>
        <p:nvSpPr>
          <p:cNvPr id="18" name="Text 15"/>
          <p:cNvSpPr/>
          <p:nvPr/>
        </p:nvSpPr>
        <p:spPr>
          <a:xfrm>
            <a:off x="625227" y="3994547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Inequity &amp; Disruption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5227" y="4259238"/>
            <a:ext cx="4507409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First-come-first-serve creates unfairness and operational chaos with no systematic resolution.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402431"/>
            <a:ext cx="3669060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Current State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49610" y="1100956"/>
            <a:ext cx="2651224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150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72220" y="1676400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Parking Slots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49610" y="1946895"/>
            <a:ext cx="265122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available supply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46313" y="1100956"/>
            <a:ext cx="2651299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375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3537421" y="1676400"/>
            <a:ext cx="206900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Associates Needing Parking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46313" y="1946895"/>
            <a:ext cx="265129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25% of 1,500 staff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43092" y="1100956"/>
            <a:ext cx="2651224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2.5x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6565702" y="1676400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Associates per Slot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43092" y="1946895"/>
            <a:ext cx="265122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Deficit of 225 slots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9610" y="2317403"/>
            <a:ext cx="267540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Current Allocation Breakdown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9610" y="2692673"/>
            <a:ext cx="8244780" cy="1404045"/>
          </a:xfrm>
          <a:prstGeom prst="roundRect">
            <a:avLst>
              <a:gd name="adj" fmla="val 384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2811" y="2771998"/>
            <a:ext cx="431556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Category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2820" y="2771998"/>
            <a:ext cx="431556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Slots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2811" y="3121819"/>
            <a:ext cx="431556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Reserved – Project Associates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2820" y="3121819"/>
            <a:ext cx="431556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2811" y="3471639"/>
            <a:ext cx="431556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Reserved – Top Learners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2820" y="3471639"/>
            <a:ext cx="431556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2811" y="3821460"/>
            <a:ext cx="431556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Unmet Demand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2820" y="3821460"/>
            <a:ext cx="431556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9610" y="4227686"/>
            <a:ext cx="8244780" cy="513383"/>
          </a:xfrm>
          <a:prstGeom prst="roundRect">
            <a:avLst>
              <a:gd name="adj" fmla="val 10511"/>
            </a:avLst>
          </a:prstGeom>
          <a:solidFill>
            <a:srgbClr val="FCF2B5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048" y="4413870"/>
            <a:ext cx="160586" cy="128439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67073" y="4376142"/>
            <a:ext cx="815607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Pain points include productivity loss, employee dissatisfaction, operational disruption, inequity, and environmental impact.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06562"/>
            <a:ext cx="42591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Stakeholders Impacted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033067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7658" y="2033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Associates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27658" y="2339578"/>
            <a:ext cx="345571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Daily stress, perceived inequity, and growing dissatisfaction with the workplace experience.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2033067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92092" y="2033067"/>
            <a:ext cx="192568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Facilities &amp; Admin Team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192092" y="2339578"/>
            <a:ext cx="345578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Constant firefighting to manage complaints, conflicts, and ad-hoc parking requests.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76724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7658" y="30767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Security Team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27658" y="3383235"/>
            <a:ext cx="345571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Ongoing burden of monitoring and managing unauthorized parking incidents.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3076724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92092" y="30767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Brand Positioning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192092" y="3383235"/>
            <a:ext cx="345578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Negative perception of the workplace experience undermines talent attraction and retention.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66" y="1485602"/>
            <a:ext cx="3833366" cy="21722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17182" y="454521"/>
            <a:ext cx="4270549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Constraints &amp; Considerations</a:t>
            </a:r>
            <a:endParaRPr lang="en-US" sz="2250" dirty="0"/>
          </a:p>
        </p:txBody>
      </p:sp>
      <p:sp>
        <p:nvSpPr>
          <p:cNvPr id="4" name="Shape 1"/>
          <p:cNvSpPr/>
          <p:nvPr/>
        </p:nvSpPr>
        <p:spPr>
          <a:xfrm>
            <a:off x="4717182" y="919683"/>
            <a:ext cx="3833366" cy="1190179"/>
          </a:xfrm>
          <a:prstGeom prst="roundRect">
            <a:avLst>
              <a:gd name="adj" fmla="val 4065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731469" y="933971"/>
            <a:ext cx="3804791" cy="345504"/>
          </a:xfrm>
          <a:prstGeom prst="roundRect">
            <a:avLst>
              <a:gd name="adj" fmla="val 9040"/>
            </a:avLst>
          </a:prstGeom>
          <a:solidFill>
            <a:srgbClr val="E1E1EA"/>
          </a:solidFill>
          <a:ln/>
        </p:spPr>
      </p:sp>
      <p:sp>
        <p:nvSpPr>
          <p:cNvPr id="6" name="Text 3"/>
          <p:cNvSpPr/>
          <p:nvPr/>
        </p:nvSpPr>
        <p:spPr>
          <a:xfrm>
            <a:off x="6547470" y="996330"/>
            <a:ext cx="172715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846588" y="1373014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Room to Expand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846588" y="1646486"/>
            <a:ext cx="3574554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Limited or no viable options to increase physical parking infrastructure.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17182" y="2203400"/>
            <a:ext cx="3833366" cy="1190179"/>
          </a:xfrm>
          <a:prstGeom prst="roundRect">
            <a:avLst>
              <a:gd name="adj" fmla="val 4065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31469" y="2217688"/>
            <a:ext cx="3804791" cy="345504"/>
          </a:xfrm>
          <a:prstGeom prst="roundRect">
            <a:avLst>
              <a:gd name="adj" fmla="val 9040"/>
            </a:avLst>
          </a:prstGeom>
          <a:solidFill>
            <a:srgbClr val="E1E1EA"/>
          </a:solidFill>
          <a:ln/>
        </p:spPr>
      </p:sp>
      <p:sp>
        <p:nvSpPr>
          <p:cNvPr id="11" name="Text 8"/>
          <p:cNvSpPr/>
          <p:nvPr/>
        </p:nvSpPr>
        <p:spPr>
          <a:xfrm>
            <a:off x="6547470" y="2280047"/>
            <a:ext cx="172715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846588" y="2656731"/>
            <a:ext cx="1649016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Growing Office Presence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46588" y="2930203"/>
            <a:ext cx="3574554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Associates returning to office continues to increase, intensifying demand pressure.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717182" y="3487117"/>
            <a:ext cx="3833366" cy="1190179"/>
          </a:xfrm>
          <a:prstGeom prst="roundRect">
            <a:avLst>
              <a:gd name="adj" fmla="val 4065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31469" y="3501405"/>
            <a:ext cx="3804791" cy="345504"/>
          </a:xfrm>
          <a:prstGeom prst="roundRect">
            <a:avLst>
              <a:gd name="adj" fmla="val 9040"/>
            </a:avLst>
          </a:prstGeom>
          <a:solidFill>
            <a:srgbClr val="E1E1EA"/>
          </a:solidFill>
          <a:ln/>
        </p:spPr>
      </p:sp>
      <p:sp>
        <p:nvSpPr>
          <p:cNvPr id="16" name="Text 13"/>
          <p:cNvSpPr/>
          <p:nvPr/>
        </p:nvSpPr>
        <p:spPr>
          <a:xfrm>
            <a:off x="6547470" y="3563764"/>
            <a:ext cx="172715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846588" y="3940448"/>
            <a:ext cx="1741438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Solution Must Be Scalable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846588" y="4213920"/>
            <a:ext cx="3574554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Any fix must be fair, cost-effective, and capable of scaling across the organization.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63132" y="481831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Objective of Solution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863132" y="1032123"/>
            <a:ext cx="528086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and implement a smart parking system that: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863132" y="1340197"/>
            <a:ext cx="4846737" cy="702469"/>
          </a:xfrm>
          <a:prstGeom prst="roundRect">
            <a:avLst>
              <a:gd name="adj" fmla="val 7417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991868" y="146893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Optimize Capacity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991868" y="1727895"/>
            <a:ext cx="458926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Make the most of every existing slot through intelligent, dynamic allocation.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863132" y="2151162"/>
            <a:ext cx="4846737" cy="702469"/>
          </a:xfrm>
          <a:prstGeom prst="roundRect">
            <a:avLst>
              <a:gd name="adj" fmla="val 7417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91868" y="2279898"/>
            <a:ext cx="175498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Reduce Associate Stress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991868" y="2538859"/>
            <a:ext cx="458926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Eliminate the daily anxiety of uncertain parking through transparency and fairness.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863132" y="2962126"/>
            <a:ext cx="4846737" cy="702469"/>
          </a:xfrm>
          <a:prstGeom prst="roundRect">
            <a:avLst>
              <a:gd name="adj" fmla="val 7417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91868" y="3090863"/>
            <a:ext cx="189339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Minimize Productivity Loss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991868" y="3349823"/>
            <a:ext cx="458926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Reclaim time lost to parking searches, conflicts, and late arrivals.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863132" y="3773091"/>
            <a:ext cx="4846737" cy="888504"/>
          </a:xfrm>
          <a:prstGeom prst="roundRect">
            <a:avLst>
              <a:gd name="adj" fmla="val 586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91868" y="3901827"/>
            <a:ext cx="163703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Align with Hybrid Work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991868" y="4160788"/>
            <a:ext cx="4589264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Flex dynamically with the realities of hybrid schedules and variable office attendance.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372666"/>
            <a:ext cx="406174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 Concept – Mi Lugar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49610" y="1006971"/>
            <a:ext cx="1578025" cy="233660"/>
          </a:xfrm>
          <a:prstGeom prst="roundRect">
            <a:avLst>
              <a:gd name="adj" fmla="val 18475"/>
            </a:avLst>
          </a:prstGeom>
          <a:solidFill>
            <a:srgbClr val="E1E1EA"/>
          </a:solidFill>
          <a:ln/>
        </p:spPr>
      </p:sp>
      <p:sp>
        <p:nvSpPr>
          <p:cNvPr id="4" name="Text 2"/>
          <p:cNvSpPr/>
          <p:nvPr/>
        </p:nvSpPr>
        <p:spPr>
          <a:xfrm>
            <a:off x="526628" y="1045443"/>
            <a:ext cx="1881187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FEATURES (MUST-HAVE)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49610" y="1371600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49610" y="1575643"/>
            <a:ext cx="4064198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7" name="Text 5"/>
          <p:cNvSpPr/>
          <p:nvPr/>
        </p:nvSpPr>
        <p:spPr>
          <a:xfrm>
            <a:off x="449610" y="1668438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Login &amp; Registration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49610" y="1938933"/>
            <a:ext cx="4064198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Collects employee data: vehicle info, contact details, carpooling preference, and learning points.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30192" y="1371600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30192" y="1575643"/>
            <a:ext cx="4064198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9"/>
          <p:cNvSpPr/>
          <p:nvPr/>
        </p:nvSpPr>
        <p:spPr>
          <a:xfrm>
            <a:off x="4630192" y="1668438"/>
            <a:ext cx="1944886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Dual Views: User vs Admin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30192" y="1938933"/>
            <a:ext cx="4064198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Tailored interfaces for associates managing their spot and admins overseeing the full lot.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9610" y="2543473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9610" y="2747516"/>
            <a:ext cx="4064198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5" name="Text 13"/>
          <p:cNvSpPr/>
          <p:nvPr/>
        </p:nvSpPr>
        <p:spPr>
          <a:xfrm>
            <a:off x="449610" y="2840310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Slot Allocation Logic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49610" y="3110805"/>
            <a:ext cx="4064198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 slots → designated project associates; 50 slots → top learners with priority parking passes.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30192" y="2543473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30192" y="2747516"/>
            <a:ext cx="4064198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9" name="Text 17"/>
          <p:cNvSpPr/>
          <p:nvPr/>
        </p:nvSpPr>
        <p:spPr>
          <a:xfrm>
            <a:off x="4630192" y="2840310"/>
            <a:ext cx="160719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Dashboard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630192" y="3110805"/>
            <a:ext cx="4064198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view of available vs. utilized slots, plus unauthorized parking alerts for security.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9610" y="3715345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9610" y="3919389"/>
            <a:ext cx="4064198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3" name="Text 21"/>
          <p:cNvSpPr/>
          <p:nvPr/>
        </p:nvSpPr>
        <p:spPr>
          <a:xfrm>
            <a:off x="449610" y="4012183"/>
            <a:ext cx="207801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Dynamic Access After 11 AM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49610" y="4282678"/>
            <a:ext cx="4064198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slots open to all associates after 11 AM — maximizing utilization throughout the day.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30192" y="3715345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30192" y="3919389"/>
            <a:ext cx="4064198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7" name="Text 25"/>
          <p:cNvSpPr/>
          <p:nvPr/>
        </p:nvSpPr>
        <p:spPr>
          <a:xfrm>
            <a:off x="4630192" y="4012183"/>
            <a:ext cx="273434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Check-In / Check-Out &amp; Auto Passes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630192" y="4282678"/>
            <a:ext cx="4064198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Associates update status when parked or leaving; priority passes auto-generated for top learners.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65883"/>
            <a:ext cx="3902943" cy="22116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49701" y="535186"/>
            <a:ext cx="433037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Good-to-Have Features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749701" y="1137642"/>
            <a:ext cx="1689050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839519" y="1184895"/>
            <a:ext cx="196661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UPCOMING ENHANCEMENTS</a:t>
            </a:r>
            <a:endParaRPr lang="en-US" sz="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2832" y="1577429"/>
            <a:ext cx="212601" cy="2126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0398" y="157303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Carpooling Feature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210398" y="1936254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 associates traveling from similar areas to share rides and reduce individual parking demand.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2832" y="2677790"/>
            <a:ext cx="212601" cy="2126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10398" y="267340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Visual Intelligence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210398" y="3036615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Camera or sensor-based auto-update of slot availability — no manual check-in required.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02832" y="3778151"/>
            <a:ext cx="212601" cy="21260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210398" y="37737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GPS Integration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210398" y="4136975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Notify associates of available slots as their car approaches the office, enabling seamless arrival.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399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Benefits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130498"/>
            <a:ext cx="2622724" cy="1847031"/>
          </a:xfrm>
          <a:prstGeom prst="roundRect">
            <a:avLst>
              <a:gd name="adj" fmla="val 322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2640" y="1277020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1B1B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619" y="1393924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2640" y="184405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Efficiency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150566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Reduced congestion and faster parking for every associate, every day.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60601" y="1130498"/>
            <a:ext cx="2622724" cy="1847031"/>
          </a:xfrm>
          <a:prstGeom prst="roundRect">
            <a:avLst>
              <a:gd name="adj" fmla="val 322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07122" y="1277020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1B1B2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4101" y="1393924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07122" y="184405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Fairness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07122" y="2150566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Transparent allocation with clear priority rules — no more first-come-first-serve chaos.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25083" y="1130498"/>
            <a:ext cx="2622724" cy="1847031"/>
          </a:xfrm>
          <a:prstGeom prst="roundRect">
            <a:avLst>
              <a:gd name="adj" fmla="val 322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71605" y="1277020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1B1B2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8584" y="1393924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71605" y="184405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Sustainability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171605" y="2150566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Encourages carpooling and reduces unnecessary vehicle emissions around the campus.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96119" y="3119289"/>
            <a:ext cx="4004965" cy="1620217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2640" y="3265810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1B1B2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9619" y="3382714"/>
            <a:ext cx="191319" cy="1913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2640" y="3832845"/>
            <a:ext cx="179360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Employee Experience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42640" y="4139357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Lower stress and improved satisfaction — parking becomes a perk, not a pain point.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642842" y="3119289"/>
            <a:ext cx="4004965" cy="1620217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789363" y="3265810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1B1B27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06342" y="3382714"/>
            <a:ext cx="191319" cy="19131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789363" y="383284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Brand Value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789363" y="4139357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modern, tech-enabled workplace solution that signals investment in associate wellbeing.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9610" y="358006"/>
            <a:ext cx="3669060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Call to Action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49610" y="934045"/>
            <a:ext cx="52729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are ready to move from concept to reality. Here is how we get started: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94122" y="1260946"/>
            <a:ext cx="14288" cy="3524473"/>
          </a:xfrm>
          <a:prstGeom prst="roundRect">
            <a:avLst>
              <a:gd name="adj" fmla="val 377661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724346" y="1398315"/>
            <a:ext cx="385390" cy="14288"/>
          </a:xfrm>
          <a:prstGeom prst="roundRect">
            <a:avLst>
              <a:gd name="adj" fmla="val 377661"/>
            </a:avLst>
          </a:prstGeom>
          <a:solidFill>
            <a:srgbClr val="C7C7D0"/>
          </a:solidFill>
          <a:ln/>
        </p:spPr>
      </p:sp>
      <p:sp>
        <p:nvSpPr>
          <p:cNvPr id="7" name="Shape 4"/>
          <p:cNvSpPr/>
          <p:nvPr/>
        </p:nvSpPr>
        <p:spPr>
          <a:xfrm>
            <a:off x="449610" y="1260946"/>
            <a:ext cx="289024" cy="289024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7793" y="1285019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36464" y="1305074"/>
            <a:ext cx="179278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Pilot with Synthetic Data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236464" y="1575569"/>
            <a:ext cx="4028926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Mi Lugar with simulated data for 1,500 associates and 150 slots to validate the system.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24346" y="2337643"/>
            <a:ext cx="385390" cy="14288"/>
          </a:xfrm>
          <a:prstGeom prst="roundRect">
            <a:avLst>
              <a:gd name="adj" fmla="val 377661"/>
            </a:avLst>
          </a:prstGeom>
          <a:solidFill>
            <a:srgbClr val="C7C7D0"/>
          </a:solidFill>
          <a:ln/>
        </p:spPr>
      </p:sp>
      <p:sp>
        <p:nvSpPr>
          <p:cNvPr id="12" name="Shape 9"/>
          <p:cNvSpPr/>
          <p:nvPr/>
        </p:nvSpPr>
        <p:spPr>
          <a:xfrm>
            <a:off x="449610" y="2200275"/>
            <a:ext cx="289024" cy="289024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7793" y="2224348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236464" y="2244403"/>
            <a:ext cx="183155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Validate Allocation Logic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236464" y="2514898"/>
            <a:ext cx="4028926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Confirm that slot assignment rules perform fairly and efficiently under real-world conditions.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24346" y="3276972"/>
            <a:ext cx="385390" cy="14288"/>
          </a:xfrm>
          <a:prstGeom prst="roundRect">
            <a:avLst>
              <a:gd name="adj" fmla="val 377661"/>
            </a:avLst>
          </a:prstGeom>
          <a:solidFill>
            <a:srgbClr val="C7C7D0"/>
          </a:solidFill>
          <a:ln/>
        </p:spPr>
      </p:sp>
      <p:sp>
        <p:nvSpPr>
          <p:cNvPr id="17" name="Shape 14"/>
          <p:cNvSpPr/>
          <p:nvPr/>
        </p:nvSpPr>
        <p:spPr>
          <a:xfrm>
            <a:off x="449610" y="3139604"/>
            <a:ext cx="289024" cy="289024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7793" y="3163677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36464" y="3183731"/>
            <a:ext cx="201156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Measure Productivity Gains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236464" y="3454226"/>
            <a:ext cx="4028926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 time saved, congestion reduction, and associate satisfaction scores post-launch.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24346" y="4216301"/>
            <a:ext cx="385390" cy="14288"/>
          </a:xfrm>
          <a:prstGeom prst="roundRect">
            <a:avLst>
              <a:gd name="adj" fmla="val 377661"/>
            </a:avLst>
          </a:prstGeom>
          <a:solidFill>
            <a:srgbClr val="C7C7D0"/>
          </a:solidFill>
          <a:ln/>
        </p:spPr>
      </p:sp>
      <p:sp>
        <p:nvSpPr>
          <p:cNvPr id="22" name="Shape 19"/>
          <p:cNvSpPr/>
          <p:nvPr/>
        </p:nvSpPr>
        <p:spPr>
          <a:xfrm>
            <a:off x="449610" y="4078932"/>
            <a:ext cx="289024" cy="289024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7793" y="4103005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236464" y="4123060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Scale Across Offices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1236464" y="4393555"/>
            <a:ext cx="4028926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Roll out Mi Lugar organization-wide, adapting to each location's unique capacity and workforce.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2026-05-22T16:13:12Z</dcterms:created>
  <dcterms:modified xsi:type="dcterms:W3CDTF">2026-05-22T16:13:12Z</dcterms:modified>
</cp:coreProperties>
</file>